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Canning" userId="917f8eb9-2ec5-4683-8b7a-a0a24ecf7576" providerId="ADAL" clId="{E0A7C8E3-C062-4EFF-AA16-38DA4A8708CD}"/>
    <pc:docChg chg="modSld">
      <pc:chgData name="James Canning" userId="917f8eb9-2ec5-4683-8b7a-a0a24ecf7576" providerId="ADAL" clId="{E0A7C8E3-C062-4EFF-AA16-38DA4A8708CD}" dt="2025-09-22T18:16:29.537" v="0" actId="1076"/>
      <pc:docMkLst>
        <pc:docMk/>
      </pc:docMkLst>
      <pc:sldChg chg="modSp mod">
        <pc:chgData name="James Canning" userId="917f8eb9-2ec5-4683-8b7a-a0a24ecf7576" providerId="ADAL" clId="{E0A7C8E3-C062-4EFF-AA16-38DA4A8708CD}" dt="2025-09-22T18:16:29.537" v="0" actId="1076"/>
        <pc:sldMkLst>
          <pc:docMk/>
          <pc:sldMk cId="0" sldId="258"/>
        </pc:sldMkLst>
        <pc:spChg chg="mod">
          <ac:chgData name="James Canning" userId="917f8eb9-2ec5-4683-8b7a-a0a24ecf7576" providerId="ADAL" clId="{E0A7C8E3-C062-4EFF-AA16-38DA4A8708CD}" dt="2025-09-22T18:16:29.537" v="0" actId="1076"/>
          <ac:spMkLst>
            <pc:docMk/>
            <pc:sldMk cId="0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1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96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8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7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12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2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7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9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59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30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53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2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40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59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86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1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8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Distributed Systems and Related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794709" cy="3530600"/>
          </a:xfrm>
        </p:spPr>
        <p:txBody>
          <a:bodyPr>
            <a:normAutofit/>
          </a:bodyPr>
          <a:lstStyle/>
          <a:p>
            <a:r>
              <a:rPr sz="2800" dirty="0"/>
              <a:t>Overview of Distributed Systems</a:t>
            </a:r>
          </a:p>
          <a:p>
            <a:r>
              <a:rPr sz="2800" dirty="0"/>
              <a:t>Models and Programming Paradigms</a:t>
            </a:r>
          </a:p>
          <a:p>
            <a:r>
              <a:rPr sz="2800" dirty="0"/>
              <a:t>Network Programming</a:t>
            </a:r>
          </a:p>
          <a:p>
            <a:r>
              <a:rPr sz="2800" dirty="0"/>
              <a:t>Security Options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Distributed Systems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18" y="2004290"/>
            <a:ext cx="8141073" cy="42441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/>
              <a:t>Definition:</a:t>
            </a:r>
          </a:p>
          <a:p>
            <a:r>
              <a:rPr sz="2000" dirty="0"/>
              <a:t>- A collection of independent computers appearing as a single coherent system.</a:t>
            </a:r>
          </a:p>
          <a:p>
            <a:endParaRPr sz="2000" dirty="0"/>
          </a:p>
          <a:p>
            <a:pPr marL="0" indent="0">
              <a:buNone/>
            </a:pPr>
            <a:r>
              <a:rPr sz="2000" b="1" dirty="0"/>
              <a:t>Key Characteristics:</a:t>
            </a:r>
          </a:p>
          <a:p>
            <a:r>
              <a:rPr sz="2000" dirty="0"/>
              <a:t>- Resource Sharing</a:t>
            </a:r>
          </a:p>
          <a:p>
            <a:r>
              <a:rPr sz="2000" dirty="0"/>
              <a:t>- Scalability</a:t>
            </a:r>
          </a:p>
          <a:p>
            <a:r>
              <a:rPr sz="2000" dirty="0"/>
              <a:t>- Fault Tolerance</a:t>
            </a:r>
          </a:p>
          <a:p>
            <a:r>
              <a:rPr sz="2000" dirty="0"/>
              <a:t>- Transparency (Location, Replication, Concurrency)</a:t>
            </a:r>
          </a:p>
        </p:txBody>
      </p:sp>
      <p:pic>
        <p:nvPicPr>
          <p:cNvPr id="1026" name="Picture 2" descr="What is Distributed Computing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541" y="3046557"/>
            <a:ext cx="4840349" cy="231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8757" y="890335"/>
            <a:ext cx="6343672" cy="709865"/>
          </a:xfrm>
        </p:spPr>
        <p:txBody>
          <a:bodyPr/>
          <a:lstStyle/>
          <a:p>
            <a:r>
              <a:t>Distributed Systems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75164"/>
            <a:ext cx="7780854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Architectural Models:</a:t>
            </a:r>
          </a:p>
          <a:p>
            <a:r>
              <a:rPr dirty="0"/>
              <a:t>1. Client-Server Model (e.g., Web applications)</a:t>
            </a:r>
          </a:p>
          <a:p>
            <a:r>
              <a:rPr dirty="0"/>
              <a:t>2. Peer-to-Peer Model (e.g., </a:t>
            </a:r>
            <a:r>
              <a:rPr dirty="0" err="1"/>
              <a:t>Blockchain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b="1" dirty="0"/>
              <a:t>Interaction Models:</a:t>
            </a:r>
          </a:p>
          <a:p>
            <a:r>
              <a:rPr dirty="0"/>
              <a:t>- Synchronous vs. Asynchronous Systems</a:t>
            </a:r>
          </a:p>
          <a:p>
            <a:pPr marL="0" indent="0">
              <a:buNone/>
            </a:pPr>
            <a:r>
              <a:rPr b="1" dirty="0"/>
              <a:t>Failure Models:</a:t>
            </a:r>
          </a:p>
          <a:p>
            <a:r>
              <a:rPr dirty="0"/>
              <a:t>- Crash and Byzantine Failures</a:t>
            </a:r>
          </a:p>
          <a:p>
            <a:pPr marL="0" indent="0">
              <a:buNone/>
            </a:pPr>
            <a:r>
              <a:rPr b="1" dirty="0"/>
              <a:t>Security Models:</a:t>
            </a:r>
          </a:p>
          <a:p>
            <a:r>
              <a:rPr dirty="0"/>
              <a:t>- Confidentiality, Integrity, Availability</a:t>
            </a:r>
          </a:p>
        </p:txBody>
      </p:sp>
      <p:pic>
        <p:nvPicPr>
          <p:cNvPr id="2050" name="Picture 2" descr="Comparison of &quot;peer-to-peer&quot; vs &quot;client-server&quot; Network Mod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103" y="3325091"/>
            <a:ext cx="4045526" cy="311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 for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8044091" cy="3925455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Netflix (Client-Server Model):</a:t>
            </a:r>
          </a:p>
          <a:p>
            <a:r>
              <a:rPr dirty="0"/>
              <a:t>- Clients request videos from servers.</a:t>
            </a:r>
          </a:p>
          <a:p>
            <a:endParaRPr dirty="0"/>
          </a:p>
          <a:p>
            <a:pPr marL="0" indent="0">
              <a:buNone/>
            </a:pPr>
            <a:r>
              <a:rPr b="1" dirty="0" err="1"/>
              <a:t>Bitcoin</a:t>
            </a:r>
            <a:r>
              <a:rPr b="1" dirty="0"/>
              <a:t> (Peer-to-Peer Model):</a:t>
            </a:r>
          </a:p>
          <a:p>
            <a:r>
              <a:rPr dirty="0"/>
              <a:t>- Decentralized transaction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and Distributed Programming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Definitions:</a:t>
            </a:r>
          </a:p>
          <a:p>
            <a:pPr marL="0" indent="0">
              <a:buNone/>
            </a:pPr>
            <a:r>
              <a:rPr b="1" dirty="0"/>
              <a:t>Parallel Programming: </a:t>
            </a:r>
            <a:endParaRPr lang="en-US" b="1" dirty="0"/>
          </a:p>
          <a:p>
            <a:pPr marL="0" indent="0">
              <a:buNone/>
            </a:pPr>
            <a:r>
              <a:rPr dirty="0"/>
              <a:t>Tasks run simultaneously on multiple processors.</a:t>
            </a:r>
          </a:p>
          <a:p>
            <a:pPr marL="0" indent="0">
              <a:buNone/>
            </a:pPr>
            <a:r>
              <a:rPr b="1" dirty="0"/>
              <a:t>Distributed Programming:</a:t>
            </a:r>
            <a:endParaRPr lang="en-US" b="1" dirty="0"/>
          </a:p>
          <a:p>
            <a:r>
              <a:rPr dirty="0"/>
              <a:t>Tasks distributed across multiple computers.</a:t>
            </a:r>
          </a:p>
          <a:p>
            <a:pPr marL="0" indent="0">
              <a:buNone/>
            </a:pPr>
            <a:r>
              <a:rPr b="1" dirty="0"/>
              <a:t>Key Concepts:</a:t>
            </a:r>
          </a:p>
          <a:p>
            <a:r>
              <a:rPr dirty="0"/>
              <a:t>- Parallelism vs. Concurrency</a:t>
            </a:r>
          </a:p>
          <a:p>
            <a:r>
              <a:rPr dirty="0"/>
              <a:t>- Task and Data Parallelism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for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7697727" cy="4133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b="1" dirty="0"/>
              <a:t>Parallel Programming Models:</a:t>
            </a:r>
          </a:p>
          <a:p>
            <a:r>
              <a:rPr sz="2800" dirty="0"/>
              <a:t>1. Shared Memory Model (e.g., Multi-threading in Java)</a:t>
            </a:r>
          </a:p>
          <a:p>
            <a:r>
              <a:rPr sz="2800" dirty="0"/>
              <a:t>2. Distributed Memory Model (e.g., MPI)</a:t>
            </a:r>
          </a:p>
          <a:p>
            <a:pPr marL="0" indent="0">
              <a:buNone/>
            </a:pPr>
            <a:r>
              <a:rPr sz="2800" b="1" dirty="0"/>
              <a:t>Distributed Programming Frameworks:</a:t>
            </a:r>
          </a:p>
          <a:p>
            <a:r>
              <a:rPr sz="2800" dirty="0"/>
              <a:t>- Apache Spark</a:t>
            </a:r>
          </a:p>
          <a:p>
            <a:r>
              <a:rPr sz="2800" dirty="0"/>
              <a:t>- </a:t>
            </a:r>
            <a:r>
              <a:rPr sz="2800" dirty="0" err="1"/>
              <a:t>Hadoop</a:t>
            </a:r>
            <a:r>
              <a:rPr sz="2800" dirty="0"/>
              <a:t>/</a:t>
            </a:r>
            <a:r>
              <a:rPr sz="2800" dirty="0" err="1"/>
              <a:t>MapReduce</a:t>
            </a:r>
            <a:endParaRPr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Google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891691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b="1" dirty="0"/>
              <a:t>Problem:</a:t>
            </a:r>
          </a:p>
          <a:p>
            <a:r>
              <a:rPr sz="2800" dirty="0"/>
              <a:t>- Processing terabytes of data.</a:t>
            </a:r>
          </a:p>
          <a:p>
            <a:pPr marL="0" indent="0">
              <a:buNone/>
            </a:pPr>
            <a:r>
              <a:rPr sz="2800" b="1" dirty="0"/>
              <a:t>Solution:</a:t>
            </a:r>
          </a:p>
          <a:p>
            <a:r>
              <a:rPr sz="2800" dirty="0"/>
              <a:t>- Splitting data into chunks processed in parallel.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8057945" cy="36483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Definition:</a:t>
            </a:r>
          </a:p>
          <a:p>
            <a:r>
              <a:rPr sz="2400" dirty="0"/>
              <a:t>- Writing programs that communicate across networks.</a:t>
            </a:r>
          </a:p>
          <a:p>
            <a:pPr marL="0" indent="0">
              <a:buNone/>
            </a:pPr>
            <a:r>
              <a:rPr sz="2400" b="1" dirty="0"/>
              <a:t>Core Concepts:</a:t>
            </a:r>
          </a:p>
          <a:p>
            <a:r>
              <a:rPr sz="2400" dirty="0"/>
              <a:t>1. Socket Programming (TCP and UDP)</a:t>
            </a:r>
          </a:p>
          <a:p>
            <a:r>
              <a:rPr sz="2400" dirty="0"/>
              <a:t>2. Protocols (TCP/IP, </a:t>
            </a:r>
            <a:r>
              <a:rPr sz="2400" dirty="0" err="1"/>
              <a:t>WebSocket</a:t>
            </a:r>
            <a:r>
              <a:rPr sz="2400" dirty="0"/>
              <a:t>)</a:t>
            </a:r>
          </a:p>
          <a:p>
            <a:r>
              <a:rPr sz="2400" dirty="0"/>
              <a:t>3. Middleware (CORBA, </a:t>
            </a:r>
            <a:r>
              <a:rPr sz="2400" dirty="0" err="1"/>
              <a:t>gRPC</a:t>
            </a:r>
            <a:r>
              <a:rPr sz="2400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Network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905545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3200" b="1" dirty="0"/>
              <a:t>Building a Simple HTTP Server:</a:t>
            </a:r>
          </a:p>
          <a:p>
            <a:r>
              <a:rPr sz="3200" dirty="0"/>
              <a:t>- Using Python Flask library.</a:t>
            </a:r>
          </a:p>
          <a:p>
            <a:pPr marL="0" indent="0">
              <a:buNone/>
            </a:pPr>
            <a:r>
              <a:rPr sz="3200" b="1" dirty="0"/>
              <a:t>Real-world Application:</a:t>
            </a:r>
          </a:p>
          <a:p>
            <a:r>
              <a:rPr sz="3200" dirty="0"/>
              <a:t>- </a:t>
            </a:r>
            <a:r>
              <a:rPr sz="3200" dirty="0" err="1"/>
              <a:t>WhatsApp</a:t>
            </a:r>
            <a:r>
              <a:rPr sz="3200" dirty="0"/>
              <a:t> </a:t>
            </a:r>
            <a:r>
              <a:rPr sz="3200" dirty="0" err="1"/>
              <a:t>WebSocket</a:t>
            </a:r>
            <a:r>
              <a:rPr sz="3200" dirty="0"/>
              <a:t> for messaging.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Options for Distributed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7891691" cy="37730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Challenges:</a:t>
            </a:r>
          </a:p>
          <a:p>
            <a:r>
              <a:rPr dirty="0"/>
              <a:t>- Unauthorized access</a:t>
            </a:r>
          </a:p>
          <a:p>
            <a:r>
              <a:rPr dirty="0"/>
              <a:t>- Data breaches</a:t>
            </a:r>
          </a:p>
          <a:p>
            <a:r>
              <a:rPr dirty="0"/>
              <a:t>- Malware attacks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Core Security Measures:</a:t>
            </a:r>
          </a:p>
          <a:p>
            <a:r>
              <a:rPr dirty="0"/>
              <a:t>1. Authentication (e.g., </a:t>
            </a:r>
            <a:r>
              <a:rPr dirty="0" err="1"/>
              <a:t>OAuth</a:t>
            </a:r>
            <a:r>
              <a:rPr dirty="0"/>
              <a:t> 2.0)</a:t>
            </a:r>
          </a:p>
          <a:p>
            <a:r>
              <a:rPr dirty="0"/>
              <a:t>2. Authorization (Role-Based Access Control)</a:t>
            </a:r>
          </a:p>
          <a:p>
            <a:r>
              <a:rPr dirty="0"/>
              <a:t>3. Encryption (AES, RSA)</a:t>
            </a:r>
          </a:p>
          <a:p>
            <a:r>
              <a:rPr dirty="0"/>
              <a:t>4. Firewalls and IDS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Distributed Denial-of-Service (DDoS)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Incident:</a:t>
            </a:r>
          </a:p>
          <a:p>
            <a:r>
              <a:rPr dirty="0"/>
              <a:t>- 2016 </a:t>
            </a:r>
            <a:r>
              <a:rPr dirty="0" err="1"/>
              <a:t>Dyn</a:t>
            </a:r>
            <a:r>
              <a:rPr dirty="0"/>
              <a:t> DNS provider attack.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Impact:</a:t>
            </a:r>
          </a:p>
          <a:p>
            <a:r>
              <a:rPr dirty="0"/>
              <a:t>- Affected Twitter, Netflix, and others.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Solution:</a:t>
            </a:r>
          </a:p>
          <a:p>
            <a:r>
              <a:rPr dirty="0"/>
              <a:t>- Secure </a:t>
            </a:r>
            <a:r>
              <a:rPr dirty="0" err="1"/>
              <a:t>IoT</a:t>
            </a:r>
            <a:r>
              <a:rPr dirty="0"/>
              <a:t> devices and robust intrusion 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Key Takeaways:</a:t>
            </a:r>
          </a:p>
          <a:p>
            <a:r>
              <a:rPr dirty="0"/>
              <a:t>- Models ensure distributed system efficiency and reliability.</a:t>
            </a:r>
          </a:p>
          <a:p>
            <a:r>
              <a:rPr dirty="0"/>
              <a:t>- Programming paradigms utilize resources better.</a:t>
            </a:r>
          </a:p>
          <a:p>
            <a:r>
              <a:rPr dirty="0"/>
              <a:t>- Security builds trust in distributed systems.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</TotalTime>
  <Words>432</Words>
  <Application>Microsoft Office PowerPoint</Application>
  <PresentationFormat>On-screen Show (4:3)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Distributed Systems and Related Concepts</vt:lpstr>
      <vt:lpstr>Distributed Systems Overview</vt:lpstr>
      <vt:lpstr>Distributed Systems Models</vt:lpstr>
      <vt:lpstr>Case Studies for Models</vt:lpstr>
      <vt:lpstr>Parallel and Distributed Programming Paradigm</vt:lpstr>
      <vt:lpstr>Models for Programming</vt:lpstr>
      <vt:lpstr>Case Study: Google MapReduce</vt:lpstr>
      <vt:lpstr>Network Programming</vt:lpstr>
      <vt:lpstr>Example of Network Programming</vt:lpstr>
      <vt:lpstr>Security Options for Distributed Systems</vt:lpstr>
      <vt:lpstr>Case Study: Distributed Denial-of-Service (DDoS) Attack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and Related Concepts</dc:title>
  <dc:subject/>
  <dc:creator>Popo</dc:creator>
  <cp:keywords/>
  <dc:description>generated using python-pptx</dc:description>
  <cp:lastModifiedBy>James Canning</cp:lastModifiedBy>
  <cp:revision>6</cp:revision>
  <dcterms:created xsi:type="dcterms:W3CDTF">2013-01-27T09:14:16Z</dcterms:created>
  <dcterms:modified xsi:type="dcterms:W3CDTF">2025-09-22T18:16:40Z</dcterms:modified>
  <cp:category/>
</cp:coreProperties>
</file>