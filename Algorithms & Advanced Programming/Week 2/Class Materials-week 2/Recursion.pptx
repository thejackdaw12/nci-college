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7C8F59-13A0-FEDA-5FD9-0C64DDD855BD}" v="5" dt="2022-03-16T16:16:06.8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66" d="100"/>
          <a:sy n="66" d="100"/>
        </p:scale>
        <p:origin x="58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rla Kelly" userId="S::okelly@staff.ncirl.ie::164dee9a-b66c-4af2-aa08-5ba8bd606a42" providerId="AD" clId="Web-{B37C8F59-13A0-FEDA-5FD9-0C64DDD855BD}"/>
    <pc:docChg chg="modSld">
      <pc:chgData name="Orla Kelly" userId="S::okelly@staff.ncirl.ie::164dee9a-b66c-4af2-aa08-5ba8bd606a42" providerId="AD" clId="Web-{B37C8F59-13A0-FEDA-5FD9-0C64DDD855BD}" dt="2022-03-16T16:16:06.863" v="3" actId="20577"/>
      <pc:docMkLst>
        <pc:docMk/>
      </pc:docMkLst>
      <pc:sldChg chg="modSp">
        <pc:chgData name="Orla Kelly" userId="S::okelly@staff.ncirl.ie::164dee9a-b66c-4af2-aa08-5ba8bd606a42" providerId="AD" clId="Web-{B37C8F59-13A0-FEDA-5FD9-0C64DDD855BD}" dt="2022-03-16T16:14:58.783" v="0" actId="20577"/>
        <pc:sldMkLst>
          <pc:docMk/>
          <pc:sldMk cId="2963546210" sldId="257"/>
        </pc:sldMkLst>
        <pc:spChg chg="mod">
          <ac:chgData name="Orla Kelly" userId="S::okelly@staff.ncirl.ie::164dee9a-b66c-4af2-aa08-5ba8bd606a42" providerId="AD" clId="Web-{B37C8F59-13A0-FEDA-5FD9-0C64DDD855BD}" dt="2022-03-16T16:14:58.783" v="0" actId="20577"/>
          <ac:spMkLst>
            <pc:docMk/>
            <pc:sldMk cId="2963546210" sldId="257"/>
            <ac:spMk id="3" creationId="{E3BB8BB1-96B0-44AB-A0B4-3F867EEC4FE4}"/>
          </ac:spMkLst>
        </pc:spChg>
      </pc:sldChg>
      <pc:sldChg chg="modSp">
        <pc:chgData name="Orla Kelly" userId="S::okelly@staff.ncirl.ie::164dee9a-b66c-4af2-aa08-5ba8bd606a42" providerId="AD" clId="Web-{B37C8F59-13A0-FEDA-5FD9-0C64DDD855BD}" dt="2022-03-16T16:16:06.863" v="3" actId="20577"/>
        <pc:sldMkLst>
          <pc:docMk/>
          <pc:sldMk cId="2769550253" sldId="258"/>
        </pc:sldMkLst>
        <pc:spChg chg="mod">
          <ac:chgData name="Orla Kelly" userId="S::okelly@staff.ncirl.ie::164dee9a-b66c-4af2-aa08-5ba8bd606a42" providerId="AD" clId="Web-{B37C8F59-13A0-FEDA-5FD9-0C64DDD855BD}" dt="2022-03-16T16:16:06.863" v="3" actId="20577"/>
          <ac:spMkLst>
            <pc:docMk/>
            <pc:sldMk cId="2769550253" sldId="258"/>
            <ac:spMk id="3" creationId="{AE61B175-3CED-4B8B-9B18-A4438BA3DB55}"/>
          </ac:spMkLst>
        </pc:spChg>
      </pc:sldChg>
    </pc:docChg>
  </pc:docChgLst>
  <pc:docChgLst>
    <pc:chgData name="Orla Kelly" userId="164dee9a-b66c-4af2-aa08-5ba8bd606a42" providerId="ADAL" clId="{3A711C57-CB4C-44CC-94FA-29B37320EF65}"/>
    <pc:docChg chg="modSld">
      <pc:chgData name="Orla Kelly" userId="164dee9a-b66c-4af2-aa08-5ba8bd606a42" providerId="ADAL" clId="{3A711C57-CB4C-44CC-94FA-29B37320EF65}" dt="2022-03-05T11:06:24.064" v="4" actId="20577"/>
      <pc:docMkLst>
        <pc:docMk/>
      </pc:docMkLst>
      <pc:sldChg chg="modSp mod">
        <pc:chgData name="Orla Kelly" userId="164dee9a-b66c-4af2-aa08-5ba8bd606a42" providerId="ADAL" clId="{3A711C57-CB4C-44CC-94FA-29B37320EF65}" dt="2022-03-05T11:06:24.064" v="4" actId="20577"/>
        <pc:sldMkLst>
          <pc:docMk/>
          <pc:sldMk cId="3595409406" sldId="261"/>
        </pc:sldMkLst>
        <pc:spChg chg="mod">
          <ac:chgData name="Orla Kelly" userId="164dee9a-b66c-4af2-aa08-5ba8bd606a42" providerId="ADAL" clId="{3A711C57-CB4C-44CC-94FA-29B37320EF65}" dt="2022-03-05T11:06:24.064" v="4" actId="20577"/>
          <ac:spMkLst>
            <pc:docMk/>
            <pc:sldMk cId="3595409406" sldId="261"/>
            <ac:spMk id="3" creationId="{6D9C5899-85DA-4072-8A29-5CD42AF9371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F9910F92-6635-4349-8C6C-915DE94B0A8A}" type="datetimeFigureOut">
              <a:rPr lang="en-US" smtClean="0"/>
              <a:t>3/16/2022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40FDDCF6-9A35-44F4-A90E-47FA9EC9BA77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99188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10F92-6635-4349-8C6C-915DE94B0A8A}" type="datetimeFigureOut">
              <a:rPr lang="en-US" smtClean="0"/>
              <a:t>3/16/2022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DDCF6-9A35-44F4-A90E-47FA9EC9B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794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F9910F92-6635-4349-8C6C-915DE94B0A8A}" type="datetimeFigureOut">
              <a:rPr lang="en-US" smtClean="0"/>
              <a:t>3/16/2022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0FDDCF6-9A35-44F4-A90E-47FA9EC9BA77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4043063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10F92-6635-4349-8C6C-915DE94B0A8A}" type="datetimeFigureOut">
              <a:rPr lang="en-US" smtClean="0"/>
              <a:t>3/16/2022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DDCF6-9A35-44F4-A90E-47FA9EC9B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0928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10F92-6635-4349-8C6C-915DE94B0A8A}" type="datetimeFigureOut">
              <a:rPr lang="en-US" smtClean="0"/>
              <a:t>3/16/2022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DDCF6-9A35-44F4-A90E-47FA9EC9B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2069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10F92-6635-4349-8C6C-915DE94B0A8A}" type="datetimeFigureOut">
              <a:rPr lang="en-US" smtClean="0"/>
              <a:t>3/16/2022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DDCF6-9A35-44F4-A90E-47FA9EC9B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373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10F92-6635-4349-8C6C-915DE94B0A8A}" type="datetimeFigureOut">
              <a:rPr lang="en-US" smtClean="0"/>
              <a:t>3/16/2022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DDCF6-9A35-44F4-A90E-47FA9EC9B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864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F9910F92-6635-4349-8C6C-915DE94B0A8A}" type="datetimeFigureOut">
              <a:rPr lang="en-US" smtClean="0"/>
              <a:t>3/16/2022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40FDDCF6-9A35-44F4-A90E-47FA9EC9BA7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601372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F9910F92-6635-4349-8C6C-915DE94B0A8A}" type="datetimeFigureOut">
              <a:rPr lang="en-US" smtClean="0"/>
              <a:t>3/16/2022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40FDDCF6-9A35-44F4-A90E-47FA9EC9B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214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10F92-6635-4349-8C6C-915DE94B0A8A}" type="datetimeFigureOut">
              <a:rPr lang="en-US" smtClean="0"/>
              <a:t>3/16/2022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DDCF6-9A35-44F4-A90E-47FA9EC9B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729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10F92-6635-4349-8C6C-915DE94B0A8A}" type="datetimeFigureOut">
              <a:rPr lang="en-US" smtClean="0"/>
              <a:t>3/16/2022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DDCF6-9A35-44F4-A90E-47FA9EC9B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113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F9910F92-6635-4349-8C6C-915DE94B0A8A}" type="datetimeFigureOut">
              <a:rPr lang="en-US" smtClean="0"/>
              <a:t>3/16/2022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40FDDCF6-9A35-44F4-A90E-47FA9EC9BA7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09826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9325D-B0FB-4EB6-A7D7-FC89D147D9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Recursion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158516-F488-4D60-8679-F1E177A56F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5394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EBDC1-9D98-4DD1-A5EB-B0480B12C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Recursion Explained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B8BB1-96B0-44AB-A0B4-3F867EEC4F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GB" dirty="0"/>
              <a:t>A method that calls itself is known as a recursive method.</a:t>
            </a:r>
          </a:p>
          <a:p>
            <a:r>
              <a:rPr lang="en-GB" dirty="0"/>
              <a:t>A recursive method is only capable of solving the simplest or base case.</a:t>
            </a:r>
          </a:p>
          <a:p>
            <a:r>
              <a:rPr lang="en-GB" dirty="0"/>
              <a:t>Recursive methods are based on the divide and conquer approach. </a:t>
            </a:r>
          </a:p>
          <a:p>
            <a:r>
              <a:rPr lang="en-GB" dirty="0"/>
              <a:t>Each time the method calls a fresh copy of itself to solve a simpler or slightly smaller problem. This is called the recursive call or the recursion step.</a:t>
            </a:r>
          </a:p>
          <a:p>
            <a:r>
              <a:rPr lang="en-GB" dirty="0"/>
              <a:t>The recursion step returns its result to the original caller.</a:t>
            </a:r>
          </a:p>
          <a:p>
            <a:r>
              <a:rPr lang="en-GB" dirty="0"/>
              <a:t>For the recursive method to eventually end the series of smaller problems must converge on a base case.</a:t>
            </a:r>
          </a:p>
          <a:p>
            <a:r>
              <a:rPr lang="en-GB" dirty="0"/>
              <a:t>When the method recognises the base case, it returns a result to the previous copy and so on up through to the original method call.</a:t>
            </a:r>
          </a:p>
        </p:txBody>
      </p:sp>
    </p:spTree>
    <p:extLst>
      <p:ext uri="{BB962C8B-B14F-4D97-AF65-F5344CB8AC3E}">
        <p14:creationId xmlns:p14="http://schemas.microsoft.com/office/powerpoint/2010/main" val="2963546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F598F-207A-4CF0-A715-0C13A34D9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Recursion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1B175-3CED-4B8B-9B18-A4438BA3DB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GB" dirty="0"/>
              <a:t>Recursion can be used to perform the popular mathematical calculation - factorial.</a:t>
            </a:r>
          </a:p>
          <a:p>
            <a:r>
              <a:rPr lang="en-GB" dirty="0"/>
              <a:t>The factorial (written as !) of a positive number is the product n * (n-1) * (n-2) *  . . .  . * 1, with 1! equal to 1, and 0! defined to be 1.</a:t>
            </a:r>
          </a:p>
          <a:p>
            <a:r>
              <a:rPr lang="en-GB" dirty="0"/>
              <a:t>For example, 5! is the product of 5 * 4 * 3 * 2 * 1, which is 120.</a:t>
            </a:r>
          </a:p>
          <a:p>
            <a:r>
              <a:rPr lang="en-GB" dirty="0"/>
              <a:t>What is the base case?</a:t>
            </a:r>
          </a:p>
          <a:p>
            <a:pPr marL="0" indent="0">
              <a:buNone/>
            </a:pPr>
            <a:r>
              <a:rPr lang="en-GB" dirty="0"/>
              <a:t>	</a:t>
            </a:r>
            <a:r>
              <a:rPr lang="en-GB" sz="1800" dirty="0"/>
              <a:t>if (number  &lt;= 1) return 1</a:t>
            </a:r>
          </a:p>
          <a:p>
            <a:r>
              <a:rPr lang="en-GB" dirty="0"/>
              <a:t>How can we make the problem simpler each time?</a:t>
            </a:r>
          </a:p>
          <a:p>
            <a:pPr marL="457200" lvl="1" indent="0">
              <a:buNone/>
            </a:pPr>
            <a:r>
              <a:rPr lang="en-GB" dirty="0"/>
              <a:t>	calculate n * (n -1)!</a:t>
            </a:r>
          </a:p>
          <a:p>
            <a:r>
              <a:rPr lang="en-GB" dirty="0"/>
              <a:t>Keep the number less than 10 or there will be an overflow for the int variable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69550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29CFF-50BD-4CC4-8AFE-25DD97E68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Recursion Example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C5899-85DA-4072-8A29-5CD42AF93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6839" y="1874517"/>
            <a:ext cx="10178322" cy="3593591"/>
          </a:xfrm>
        </p:spPr>
        <p:txBody>
          <a:bodyPr/>
          <a:lstStyle/>
          <a:p>
            <a:r>
              <a:rPr lang="en-GB" dirty="0"/>
              <a:t>The factorial method is our recursive method. </a:t>
            </a:r>
          </a:p>
          <a:p>
            <a:r>
              <a:rPr lang="en-GB" dirty="0"/>
              <a:t>One parameter - the number whose factorial will be calculated</a:t>
            </a:r>
          </a:p>
          <a:p>
            <a:r>
              <a:rPr lang="en-GB" dirty="0"/>
              <a:t>Firstly, the base case is checked.</a:t>
            </a:r>
          </a:p>
          <a:p>
            <a:r>
              <a:rPr lang="en-GB" dirty="0"/>
              <a:t>If the base case is satisfied, 1 is returned.</a:t>
            </a:r>
          </a:p>
          <a:p>
            <a:r>
              <a:rPr lang="en-GB" dirty="0"/>
              <a:t>Otherwise, a recursive call to the factorial method.</a:t>
            </a:r>
          </a:p>
          <a:p>
            <a:r>
              <a:rPr lang="en-GB" dirty="0"/>
              <a:t>This time the slightly simple problem of n-1 will be solved.</a:t>
            </a:r>
          </a:p>
          <a:p>
            <a:r>
              <a:rPr lang="en-GB" dirty="0"/>
              <a:t>And so on until the base case is satisfied.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316A39A-8019-4031-98E7-21E8F170EF90}"/>
              </a:ext>
            </a:extLst>
          </p:cNvPr>
          <p:cNvSpPr/>
          <p:nvPr/>
        </p:nvSpPr>
        <p:spPr>
          <a:xfrm>
            <a:off x="5643148" y="4328420"/>
            <a:ext cx="6157912" cy="24914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GB" sz="2000" dirty="0"/>
              <a:t> public static int factorial(int number){</a:t>
            </a:r>
          </a:p>
          <a:p>
            <a:pPr marL="0" indent="0">
              <a:buNone/>
            </a:pPr>
            <a:r>
              <a:rPr lang="en-GB" sz="2000" dirty="0"/>
              <a:t>        if(number &lt;= 1)</a:t>
            </a:r>
          </a:p>
          <a:p>
            <a:pPr marL="0" indent="0">
              <a:buNone/>
            </a:pPr>
            <a:r>
              <a:rPr lang="en-GB" sz="2000" dirty="0"/>
              <a:t>            return 1;</a:t>
            </a:r>
          </a:p>
          <a:p>
            <a:pPr marL="0" indent="0">
              <a:buNone/>
            </a:pPr>
            <a:r>
              <a:rPr lang="en-GB" sz="2000" dirty="0"/>
              <a:t>        else</a:t>
            </a:r>
          </a:p>
          <a:p>
            <a:pPr marL="0" indent="0">
              <a:buNone/>
            </a:pPr>
            <a:r>
              <a:rPr lang="en-GB" sz="2000" dirty="0"/>
              <a:t>            return number * factorial(number - 1);</a:t>
            </a:r>
          </a:p>
          <a:p>
            <a:pPr marL="0" indent="0">
              <a:buNone/>
            </a:pPr>
            <a:r>
              <a:rPr lang="en-GB" sz="2000" dirty="0"/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3595409406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lue Badge">
      <a:dk1>
        <a:sysClr val="windowText" lastClr="000000"/>
      </a:dk1>
      <a:lt1>
        <a:sysClr val="window" lastClr="FFFFFF"/>
      </a:lt1>
      <a:dk2>
        <a:srgbClr val="0B082E"/>
      </a:dk2>
      <a:lt2>
        <a:srgbClr val="F3F3F2"/>
      </a:lt2>
      <a:accent1>
        <a:srgbClr val="62B4C6"/>
      </a:accent1>
      <a:accent2>
        <a:srgbClr val="1B376E"/>
      </a:accent2>
      <a:accent3>
        <a:srgbClr val="9EBE55"/>
      </a:accent3>
      <a:accent4>
        <a:srgbClr val="C65E5E"/>
      </a:accent4>
      <a:accent5>
        <a:srgbClr val="D3BA55"/>
      </a:accent5>
      <a:accent6>
        <a:srgbClr val="96648A"/>
      </a:accent6>
      <a:hlink>
        <a:srgbClr val="62B4C6"/>
      </a:hlink>
      <a:folHlink>
        <a:srgbClr val="96648A"/>
      </a:folHlink>
    </a:clrScheme>
    <a:fontScheme name="Badge">
      <a:majorFont>
        <a:latin typeface="Impact" panose="020B0806030902050204"/>
        <a:ea typeface=""/>
        <a:cs typeface=""/>
      </a:majorFont>
      <a:minorFont>
        <a:latin typeface="Gill Sans MT" panose="020B0502020104020203"/>
        <a:ea typeface=""/>
        <a:cs typeface="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05363d4-13d0-4762-b738-6a9c138604a9" xsi:nil="true"/>
    <lcf76f155ced4ddcb4097134ff3c332f xmlns="a6489827-0745-4635-9708-560f8f9828da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5BCABB96CE8FB4D995EFD8D93DD8345" ma:contentTypeVersion="15" ma:contentTypeDescription="Create a new document." ma:contentTypeScope="" ma:versionID="1653fcb53d30f201cab3ac581a726732">
  <xsd:schema xmlns:xsd="http://www.w3.org/2001/XMLSchema" xmlns:xs="http://www.w3.org/2001/XMLSchema" xmlns:p="http://schemas.microsoft.com/office/2006/metadata/properties" xmlns:ns2="a6489827-0745-4635-9708-560f8f9828da" xmlns:ns3="e05363d4-13d0-4762-b738-6a9c138604a9" targetNamespace="http://schemas.microsoft.com/office/2006/metadata/properties" ma:root="true" ma:fieldsID="2fc0be962a59606a97b1008e6d5914f2" ns2:_="" ns3:_="">
    <xsd:import namespace="a6489827-0745-4635-9708-560f8f9828da"/>
    <xsd:import namespace="e05363d4-13d0-4762-b738-6a9c138604a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489827-0745-4635-9708-560f8f9828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76cfaf09-5f88-45ad-a6a8-dad774d80bd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5363d4-13d0-4762-b738-6a9c138604a9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a8e14c30-52aa-48ca-b912-e7f4c517d5f2}" ma:internalName="TaxCatchAll" ma:showField="CatchAllData" ma:web="e05363d4-13d0-4762-b738-6a9c138604a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D5C490D-BA2E-4B89-8A71-442EC7EF93FD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CF086085-C0F8-4ACB-8608-1D6FE73A16A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1B83161-2860-4E90-A1F9-300DABD21038}"/>
</file>

<file path=docProps/app.xml><?xml version="1.0" encoding="utf-8"?>
<Properties xmlns="http://schemas.openxmlformats.org/officeDocument/2006/extended-properties" xmlns:vt="http://schemas.openxmlformats.org/officeDocument/2006/docPropsVTypes">
  <Template>tf00001242</Template>
  <TotalTime>3967</TotalTime>
  <Words>363</Words>
  <Application>Microsoft Office PowerPoint</Application>
  <PresentationFormat>Widescreen</PresentationFormat>
  <Paragraphs>33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Badge</vt:lpstr>
      <vt:lpstr>Recursion</vt:lpstr>
      <vt:lpstr>Recursion Explained</vt:lpstr>
      <vt:lpstr>Recursion Example</vt:lpstr>
      <vt:lpstr>Recursion Example Implementation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 Cogan</dc:creator>
  <cp:lastModifiedBy>Orla Kelly</cp:lastModifiedBy>
  <cp:revision>8</cp:revision>
  <dcterms:created xsi:type="dcterms:W3CDTF">2021-07-27T15:16:16Z</dcterms:created>
  <dcterms:modified xsi:type="dcterms:W3CDTF">2022-03-16T16:16:07Z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0x010100D5BCABB96CE8FB4D995EFD8D93DD8345</vt:lpwstr>
  </property>
</Properties>
</file>